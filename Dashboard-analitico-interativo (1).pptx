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embeddedFontLst>
    <p:embeddedFont>
      <p:font typeface="Fira Sans Condensed"/>
      <p:regular r:id="rId201314"/>
    </p:embeddedFont>
    <p:embeddedFont>
      <p:font typeface="Fira Sans Condensed SemiBold"/>
      <p:regular r:id="rId201315"/>
    </p:embeddedFont>
    <p:embeddedFont>
      <p:font typeface="Fira Sans Condensed Bold"/>
      <p:regular r:id="rId201316"/>
    </p:embeddedFont>
    <p:embeddedFont>
      <p:font typeface="JetBrains Mono"/>
      <p:regular r:id="rId201317"/>
    </p:embeddedFont>
    <p:embeddedFont>
      <p:font typeface="JetBrains Mono Medium"/>
      <p:regular r:id="rId201318"/>
    </p:embeddedFont>
    <p:embeddedFont>
      <p:font typeface="JetBrains Mono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 tela como um fluxo de decisão. Comece pelos filtros e pela faixa de KPIs. Em seguida, destaque abril como o melhor mês observado e Alimentos como a categoria com maior receita disponível. Explique que os demais pontos permanecem como estados de conexão, sem números inventados. Feche mostrando como a tabela permite descer até o registro filtrado.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este slide como especificação visual da interação. Primeiro, mostre o ponto de entrada: mês ou categoria. Depois, trace a propagação para as outras visões. Termine com o tooltip e a restauração do overview. Os três módulos inferiores funcionam como critérios de aceite: acessibilidade, baixo ruído visual e honestidade sobre dados ainda não conectados.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591" y="76200"/>
            <a:ext cx="11480513" cy="313134"/>
          </a:xfrm>
          <a:prstGeom prst="roundRect">
            <a:avLst>
              <a:gd name="adj" fmla="val 19467"/>
            </a:avLst>
          </a:prstGeom>
          <a:solidFill>
            <a:srgbClr val="F4F3EC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118872"/>
            <a:ext cx="11378915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38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IDENTIFICAÇÃO DO PROJETO · PROJETO: TIAGO.SILVA · STATUS: REPOSITÓRIO VAZIO NO MOMENTO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57189" y="254893"/>
            <a:ext cx="5562461" cy="9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spc="31" kern="100" dirty="0">
                <a:solidFill>
                  <a:srgbClr val="00000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REPOSITÓRIO SSH:</a:t>
            </a:r>
            <a:pPr algn="l" indent="0" marL="0">
              <a:lnSpc>
                <a:spcPct val="104000"/>
              </a:lnSpc>
              <a:buNone/>
            </a:pPr>
            <a:r>
              <a:rPr lang="en-US" sz="650" spc="31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GIT@GITHUB.COM:TIAGOMBRAG-ARCH/TIAGO.SILVA.GIT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172046" y="254893"/>
            <a:ext cx="5562461" cy="9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spc="31" kern="100" dirty="0">
                <a:solidFill>
                  <a:srgbClr val="00000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REPOSITÓRIO HTTPS:</a:t>
            </a:r>
            <a:pPr algn="l" indent="0" marL="0">
              <a:lnSpc>
                <a:spcPct val="104000"/>
              </a:lnSpc>
              <a:buNone/>
            </a:pPr>
            <a:r>
              <a:rPr lang="en-US" sz="650" spc="31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HTTPS://GITHUB.COM/TIAGOMBRAG-ARCH/TIAGO.SILVA.GIT</a:t>
            </a:r>
            <a:endParaRPr lang="en-US" sz="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582" y="811411"/>
            <a:ext cx="325330" cy="325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76190" y="815983"/>
            <a:ext cx="6686680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63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PROTÓTIPO · VISÃO GERENCIAL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976190" y="938731"/>
            <a:ext cx="630569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spc="-8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Dashboard analítico interativo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976190" y="1239780"/>
            <a:ext cx="6686680" cy="10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8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Uma única tela para decidir: Overview → Zoom &amp; Filter → Details-on-demand.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692438" y="430411"/>
            <a:ext cx="1143666" cy="240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650" spc="31" kern="100" dirty="0">
                <a:solidFill>
                  <a:srgbClr val="A3C7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PERÍODO · JAN–DEZ/2025</a:t>
            </a:r>
            <a:endParaRPr lang="en-US" sz="6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650" spc="31" kern="100" dirty="0">
                <a:solidFill>
                  <a:srgbClr val="A3C7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SELEÇÃO ATIVA · ABRIL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355591" y="1757164"/>
            <a:ext cx="3623577" cy="762695"/>
          </a:xfrm>
          <a:prstGeom prst="roundRect">
            <a:avLst>
              <a:gd name="adj" fmla="val 7993"/>
            </a:avLst>
          </a:prstGeom>
          <a:solidFill>
            <a:srgbClr val="F4F3EC"/>
          </a:solidFill>
          <a:ln/>
        </p:spPr>
      </p:sp>
      <p:sp>
        <p:nvSpPr>
          <p:cNvPr id="12" name="Text 9"/>
          <p:cNvSpPr/>
          <p:nvPr/>
        </p:nvSpPr>
        <p:spPr>
          <a:xfrm>
            <a:off x="507987" y="1876036"/>
            <a:ext cx="3471180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38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FILTRO GLOBAL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507987" y="2008485"/>
            <a:ext cx="484771" cy="154384"/>
          </a:xfrm>
          <a:prstGeom prst="roundRect">
            <a:avLst>
              <a:gd name="adj" fmla="val 7700"/>
            </a:avLst>
          </a:prstGeom>
          <a:solidFill>
            <a:srgbClr val="113B28"/>
          </a:solidFill>
          <a:ln/>
        </p:spPr>
      </p:sp>
      <p:sp>
        <p:nvSpPr>
          <p:cNvPr id="14" name="Text 11"/>
          <p:cNvSpPr/>
          <p:nvPr/>
        </p:nvSpPr>
        <p:spPr>
          <a:xfrm>
            <a:off x="567418" y="2038197"/>
            <a:ext cx="975494" cy="9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spc="37" kern="100" dirty="0">
                <a:solidFill>
                  <a:srgbClr val="E3ECE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PERÍODO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1042267" y="2008485"/>
            <a:ext cx="432484" cy="154384"/>
          </a:xfrm>
          <a:prstGeom prst="roundRect">
            <a:avLst>
              <a:gd name="adj" fmla="val 7700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01697" y="2038197"/>
            <a:ext cx="923207" cy="9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spc="37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REGIÃO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1524260" y="2008485"/>
            <a:ext cx="589245" cy="154384"/>
          </a:xfrm>
          <a:prstGeom prst="roundRect">
            <a:avLst>
              <a:gd name="adj" fmla="val 7700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83690" y="2038197"/>
            <a:ext cx="1079969" cy="9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spc="37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CATEGORIA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4131564" y="1757164"/>
            <a:ext cx="1811887" cy="762695"/>
          </a:xfrm>
          <a:prstGeom prst="roundRect">
            <a:avLst>
              <a:gd name="adj" fmla="val 7993"/>
            </a:avLst>
          </a:prstGeom>
          <a:solidFill>
            <a:srgbClr val="F4F3EC"/>
          </a:solidFill>
          <a:ln/>
        </p:spPr>
      </p:sp>
      <p:sp>
        <p:nvSpPr>
          <p:cNvPr id="20" name="Text 17"/>
          <p:cNvSpPr/>
          <p:nvPr/>
        </p:nvSpPr>
        <p:spPr>
          <a:xfrm>
            <a:off x="4283960" y="1876036"/>
            <a:ext cx="1659491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38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RECEITA TOTAL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283960" y="2007572"/>
            <a:ext cx="1507095" cy="2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50" spc="-22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R$ 257.751</a:t>
            </a:r>
            <a:endParaRPr lang="en-US" sz="2150" dirty="0"/>
          </a:p>
        </p:txBody>
      </p:sp>
      <p:sp>
        <p:nvSpPr>
          <p:cNvPr id="22" name="Shape 19"/>
          <p:cNvSpPr/>
          <p:nvPr/>
        </p:nvSpPr>
        <p:spPr>
          <a:xfrm>
            <a:off x="6095848" y="1757164"/>
            <a:ext cx="1811788" cy="762695"/>
          </a:xfrm>
          <a:prstGeom prst="roundRect">
            <a:avLst>
              <a:gd name="adj" fmla="val 7993"/>
            </a:avLst>
          </a:prstGeom>
          <a:solidFill>
            <a:srgbClr val="F4F3EC"/>
          </a:solidFill>
          <a:ln/>
        </p:spPr>
      </p:sp>
      <p:sp>
        <p:nvSpPr>
          <p:cNvPr id="23" name="Text 20"/>
          <p:cNvSpPr/>
          <p:nvPr/>
        </p:nvSpPr>
        <p:spPr>
          <a:xfrm>
            <a:off x="6248244" y="1876036"/>
            <a:ext cx="1659392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38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UNIDADES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6248244" y="2007572"/>
            <a:ext cx="1506996" cy="2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50" spc="-22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3.977</a:t>
            </a:r>
            <a:endParaRPr lang="en-US" sz="2150" dirty="0"/>
          </a:p>
        </p:txBody>
      </p:sp>
      <p:sp>
        <p:nvSpPr>
          <p:cNvPr id="25" name="Shape 22"/>
          <p:cNvSpPr/>
          <p:nvPr/>
        </p:nvSpPr>
        <p:spPr>
          <a:xfrm>
            <a:off x="8060032" y="1757164"/>
            <a:ext cx="1811788" cy="762695"/>
          </a:xfrm>
          <a:prstGeom prst="roundRect">
            <a:avLst>
              <a:gd name="adj" fmla="val 7993"/>
            </a:avLst>
          </a:prstGeom>
          <a:solidFill>
            <a:srgbClr val="F4F3EC"/>
          </a:solidFill>
          <a:ln/>
        </p:spPr>
      </p:sp>
      <p:sp>
        <p:nvSpPr>
          <p:cNvPr id="26" name="Text 23"/>
          <p:cNvSpPr/>
          <p:nvPr/>
        </p:nvSpPr>
        <p:spPr>
          <a:xfrm>
            <a:off x="8212428" y="1876036"/>
            <a:ext cx="1659392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38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TICKET MÉDIO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8212428" y="2007572"/>
            <a:ext cx="1506996" cy="2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50" spc="-22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R$ 65</a:t>
            </a:r>
            <a:endParaRPr lang="en-US" sz="2150" dirty="0"/>
          </a:p>
        </p:txBody>
      </p:sp>
      <p:sp>
        <p:nvSpPr>
          <p:cNvPr id="28" name="Shape 25"/>
          <p:cNvSpPr/>
          <p:nvPr/>
        </p:nvSpPr>
        <p:spPr>
          <a:xfrm>
            <a:off x="10024216" y="1757164"/>
            <a:ext cx="1811887" cy="762695"/>
          </a:xfrm>
          <a:prstGeom prst="roundRect">
            <a:avLst>
              <a:gd name="adj" fmla="val 7993"/>
            </a:avLst>
          </a:prstGeom>
          <a:solidFill>
            <a:srgbClr val="F2D13A"/>
          </a:solidFill>
          <a:ln/>
        </p:spPr>
      </p:sp>
      <p:sp>
        <p:nvSpPr>
          <p:cNvPr id="29" name="Text 26"/>
          <p:cNvSpPr/>
          <p:nvPr/>
        </p:nvSpPr>
        <p:spPr>
          <a:xfrm>
            <a:off x="10176613" y="1876036"/>
            <a:ext cx="1659491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38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COBERTURA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10176613" y="2007572"/>
            <a:ext cx="1507095" cy="2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50" spc="-22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12</a:t>
            </a:r>
            <a:endParaRPr lang="en-US" sz="2150" dirty="0"/>
          </a:p>
        </p:txBody>
      </p:sp>
      <p:sp>
        <p:nvSpPr>
          <p:cNvPr id="31" name="Text 28"/>
          <p:cNvSpPr/>
          <p:nvPr/>
        </p:nvSpPr>
        <p:spPr>
          <a:xfrm>
            <a:off x="10176613" y="2309217"/>
            <a:ext cx="1659491" cy="9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spc="31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MESES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355591" y="2560935"/>
            <a:ext cx="6796910" cy="2387104"/>
          </a:xfrm>
          <a:prstGeom prst="roundRect">
            <a:avLst>
              <a:gd name="adj" fmla="val 2554"/>
            </a:avLst>
          </a:prstGeom>
          <a:solidFill>
            <a:srgbClr val="F4F3EC"/>
          </a:solidFill>
          <a:ln/>
        </p:spPr>
      </p:sp>
      <p:sp>
        <p:nvSpPr>
          <p:cNvPr id="33" name="Text 30"/>
          <p:cNvSpPr/>
          <p:nvPr/>
        </p:nvSpPr>
        <p:spPr>
          <a:xfrm>
            <a:off x="507987" y="2679807"/>
            <a:ext cx="6644513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38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 / VISÃO TEMPORAL · RECEITA MENSAL</a:t>
            </a:r>
            <a:endParaRPr lang="en-US" sz="65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87" y="2812256"/>
            <a:ext cx="5968851" cy="1804293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07987" y="4638377"/>
            <a:ext cx="6644513" cy="9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spc="31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ABRIL É O MELHOR MÊS OBSERVADO · R$ 29.613. JAN–MAR E MAI–DEZ AGUARDAM CONEXÃO COM A BASE MENSAL.</a:t>
            </a:r>
            <a:endParaRPr lang="en-US" sz="650" dirty="0"/>
          </a:p>
        </p:txBody>
      </p:sp>
      <p:sp>
        <p:nvSpPr>
          <p:cNvPr id="36" name="Shape 32"/>
          <p:cNvSpPr/>
          <p:nvPr/>
        </p:nvSpPr>
        <p:spPr>
          <a:xfrm>
            <a:off x="7304798" y="2560935"/>
            <a:ext cx="4531306" cy="2387104"/>
          </a:xfrm>
          <a:prstGeom prst="roundRect">
            <a:avLst>
              <a:gd name="adj" fmla="val 2554"/>
            </a:avLst>
          </a:prstGeom>
          <a:solidFill>
            <a:srgbClr val="F4F3EC"/>
          </a:solidFill>
          <a:ln/>
        </p:spPr>
      </p:sp>
      <p:sp>
        <p:nvSpPr>
          <p:cNvPr id="37" name="Text 33"/>
          <p:cNvSpPr/>
          <p:nvPr/>
        </p:nvSpPr>
        <p:spPr>
          <a:xfrm>
            <a:off x="7457194" y="2679807"/>
            <a:ext cx="4378910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38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 / DISTRIBUIÇÃO CATEGÓRICA</a:t>
            </a:r>
            <a:endParaRPr lang="en-US" sz="65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194" y="2812256"/>
            <a:ext cx="3809905" cy="180340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7457194" y="4637484"/>
            <a:ext cx="4226514" cy="19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spc="31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ALIMENTOS LIDERA · R$ 93.276. DEMAIS CATEGORIAS ENTRAM QUANDO A BASE DETALHADA ESTIVER CONECTADA.</a:t>
            </a:r>
            <a:endParaRPr lang="en-US" sz="650" dirty="0"/>
          </a:p>
        </p:txBody>
      </p:sp>
      <p:sp>
        <p:nvSpPr>
          <p:cNvPr id="40" name="Shape 35"/>
          <p:cNvSpPr/>
          <p:nvPr/>
        </p:nvSpPr>
        <p:spPr>
          <a:xfrm>
            <a:off x="355591" y="4989116"/>
            <a:ext cx="11480513" cy="4963319"/>
          </a:xfrm>
          <a:prstGeom prst="roundRect">
            <a:avLst>
              <a:gd name="adj" fmla="val 1228"/>
            </a:avLst>
          </a:prstGeom>
          <a:solidFill>
            <a:srgbClr val="F4F3EC"/>
          </a:solidFill>
          <a:ln/>
        </p:spPr>
      </p:sp>
      <p:sp>
        <p:nvSpPr>
          <p:cNvPr id="41" name="Text 36"/>
          <p:cNvSpPr/>
          <p:nvPr/>
        </p:nvSpPr>
        <p:spPr>
          <a:xfrm>
            <a:off x="507987" y="5107988"/>
            <a:ext cx="11328117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38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 / DETAILS-ON-DEMAND · EXEMPLOS DE DETALHES FILTRÁVEIS</a:t>
            </a:r>
            <a:endParaRPr lang="en-US" sz="6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5240437"/>
          <a:ext cx="11175721" cy="914400"/>
        </p:xfrm>
        <a:graphic>
          <a:graphicData uri="http://schemas.openxmlformats.org/drawingml/2006/table">
            <a:tbl>
              <a:tblPr/>
              <a:tblGrid>
                <a:gridCol w="955750"/>
                <a:gridCol w="1606014"/>
                <a:gridCol w="2256277"/>
                <a:gridCol w="1462349"/>
                <a:gridCol w="3092770"/>
                <a:gridCol w="651752"/>
                <a:gridCol w="303006"/>
                <a:gridCol w="423753"/>
                <a:gridCol w="424050"/>
              </a:tblGrid>
              <a:tr h="3441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47" kern="100" dirty="0">
                          <a:solidFill>
                            <a:srgbClr val="0000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MÊS</a:t>
                      </a:r>
                      <a:endParaRPr lang="en-US" sz="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47" kern="100" dirty="0">
                          <a:solidFill>
                            <a:srgbClr val="0000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REGIÃO</a:t>
                      </a:r>
                      <a:endParaRPr lang="en-US" sz="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47" kern="100" dirty="0">
                          <a:solidFill>
                            <a:srgbClr val="0000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CATEGORIA</a:t>
                      </a:r>
                      <a:endParaRPr lang="en-US" sz="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47" kern="100" dirty="0">
                          <a:solidFill>
                            <a:srgbClr val="0000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UNIDADES</a:t>
                      </a:r>
                      <a:endParaRPr lang="en-US" sz="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47" kern="100" dirty="0">
                          <a:solidFill>
                            <a:srgbClr val="0000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RECEITA</a:t>
                      </a:r>
                      <a:endParaRPr lang="en-US" sz="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</a:tr>
              <a:tr h="3378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Abr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Sudeste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Alimentos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37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R$ 3.188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</a:tr>
              <a:tr h="3378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Jun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Sudeste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Alimentos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75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R$ 3.043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</a:tr>
              <a:tr h="3378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Mar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Sudeste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Eletrônicos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34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R$ 2.981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</a:tr>
              <a:tr h="3378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Mar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Sudeste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Alimentos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41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R$ 2.856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</a:tr>
              <a:tr h="3378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Mai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Sudeste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Alimentos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39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R$ 2.855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</a:tr>
              <a:tr h="4407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Fev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Sudeste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Eletrônicos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52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R$ 2.667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</a:tr>
              <a:tr h="3378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Abr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Sudeste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Eletrônicos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33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R$ 2.658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</a:tr>
              <a:tr h="4407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Fev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Sudeste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Alimentos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45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R$ 2.636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</a:tr>
              <a:tr h="3378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Jun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Sudeste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Eletrônicos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52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R$ 2.600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</a:tr>
              <a:tr h="3378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Jan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Sudeste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Alimentos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48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R$ 2.448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</a:tr>
              <a:tr h="3378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Abr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Nordeste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Alimentos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29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R$ 2.414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</a:tr>
              <a:tr h="3314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Jul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Sudeste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Alimentos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48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R$ 2.327</a:t>
                      </a: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841899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ESPECIFICAÇÃO DE INTERAÇÃO · VIEWS COORDENADAS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841899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Como a seleção se propaga pelas visões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026517"/>
            <a:ext cx="841899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Uma seleção deve mudar o contexto inteiro sem perder o ponto de partida.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842551" y="304800"/>
            <a:ext cx="1993552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850"/>
              </a:spcAft>
              <a:buNone/>
            </a:pPr>
            <a:r>
              <a:rPr lang="en-US" sz="1050" spc="52" kern="100" dirty="0">
                <a:solidFill>
                  <a:srgbClr val="A3C7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BRUSHING · LINKING</a:t>
            </a:r>
            <a:endParaRPr lang="en-US" sz="10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A3C7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FOCO VISÍVEL EM AMARELO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55591" y="1355427"/>
            <a:ext cx="3725174" cy="2056904"/>
          </a:xfrm>
          <a:prstGeom prst="roundRect">
            <a:avLst>
              <a:gd name="adj" fmla="val 2964"/>
            </a:avLst>
          </a:prstGeom>
          <a:solidFill>
            <a:srgbClr val="F4F3EC"/>
          </a:solidFill>
          <a:ln/>
        </p:spPr>
      </p:sp>
      <p:sp>
        <p:nvSpPr>
          <p:cNvPr id="7" name="Text 5"/>
          <p:cNvSpPr/>
          <p:nvPr/>
        </p:nvSpPr>
        <p:spPr>
          <a:xfrm>
            <a:off x="533387" y="1511002"/>
            <a:ext cx="354737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 / ENTRADA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387" y="1723330"/>
            <a:ext cx="336958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Selecionar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3387" y="2029718"/>
            <a:ext cx="3369583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O gestor seleciona um mês na série temporal ou uma categoria nas barras. A seleção fica marcada com a mesma cor de foco em todas as visões.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3387" y="2787848"/>
            <a:ext cx="1243974" cy="257473"/>
          </a:xfrm>
          <a:prstGeom prst="roundRect">
            <a:avLst>
              <a:gd name="adj" fmla="val 7695"/>
            </a:avLst>
          </a:prstGeom>
          <a:solidFill>
            <a:srgbClr val="113B28"/>
          </a:solidFill>
          <a:ln/>
        </p:spPr>
      </p:sp>
      <p:sp>
        <p:nvSpPr>
          <p:cNvPr id="11" name="Text 9"/>
          <p:cNvSpPr/>
          <p:nvPr/>
        </p:nvSpPr>
        <p:spPr>
          <a:xfrm>
            <a:off x="632404" y="2840957"/>
            <a:ext cx="1655523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E3ECE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FOCO VISÍVEL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33161" y="1355427"/>
            <a:ext cx="3725273" cy="2056904"/>
          </a:xfrm>
          <a:prstGeom prst="roundRect">
            <a:avLst>
              <a:gd name="adj" fmla="val 2964"/>
            </a:avLst>
          </a:prstGeom>
          <a:solidFill>
            <a:srgbClr val="F4F3EC"/>
          </a:solidFill>
          <a:ln/>
        </p:spPr>
      </p:sp>
      <p:sp>
        <p:nvSpPr>
          <p:cNvPr id="13" name="Text 11"/>
          <p:cNvSpPr/>
          <p:nvPr/>
        </p:nvSpPr>
        <p:spPr>
          <a:xfrm>
            <a:off x="4410957" y="1511002"/>
            <a:ext cx="354747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 / PROPAGAÇÃO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0957" y="1723330"/>
            <a:ext cx="336968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Filtrar e realçar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10957" y="2029718"/>
            <a:ext cx="3369682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Brushing: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o mês selecionado realça as barras correspondentes e reduz a tabela aos registros daquele mês. 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Linking: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a categoria selecionada filtra a série, os KPIs e os detalhes.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10831" y="1355427"/>
            <a:ext cx="3725273" cy="2056904"/>
          </a:xfrm>
          <a:prstGeom prst="roundRect">
            <a:avLst>
              <a:gd name="adj" fmla="val 2964"/>
            </a:avLst>
          </a:prstGeom>
          <a:solidFill>
            <a:srgbClr val="F4F3EC"/>
          </a:solidFill>
          <a:ln/>
        </p:spPr>
      </p:sp>
      <p:sp>
        <p:nvSpPr>
          <p:cNvPr id="17" name="Text 15"/>
          <p:cNvSpPr/>
          <p:nvPr/>
        </p:nvSpPr>
        <p:spPr>
          <a:xfrm>
            <a:off x="8288626" y="1511002"/>
            <a:ext cx="354747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 / SAÍDA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88626" y="1723330"/>
            <a:ext cx="336968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Inspecionar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88626" y="2029718"/>
            <a:ext cx="3369682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O cursor revela receita, unidades, região e variação do contexto filtrado em tooltip enriquecido. Limpar a seleção restaura o overview.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88626" y="3002459"/>
            <a:ext cx="1679731" cy="257473"/>
          </a:xfrm>
          <a:prstGeom prst="roundRect">
            <a:avLst>
              <a:gd name="adj" fmla="val 7695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87644" y="3055567"/>
            <a:ext cx="2091280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DETAILS-ON-DEMAND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5591" y="3526631"/>
            <a:ext cx="3725174" cy="1860054"/>
          </a:xfrm>
          <a:prstGeom prst="roundRect">
            <a:avLst>
              <a:gd name="adj" fmla="val 3277"/>
            </a:avLst>
          </a:prstGeom>
          <a:solidFill>
            <a:srgbClr val="F4F3EC"/>
          </a:solidFill>
          <a:ln/>
        </p:spPr>
      </p:sp>
      <p:sp>
        <p:nvSpPr>
          <p:cNvPr id="23" name="Text 21"/>
          <p:cNvSpPr/>
          <p:nvPr/>
        </p:nvSpPr>
        <p:spPr>
          <a:xfrm>
            <a:off x="533387" y="3682206"/>
            <a:ext cx="354737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 / ACESSIBILIDADE POR PADRÃO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3387" y="3953272"/>
            <a:ext cx="3369583" cy="921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Paleta segura para daltônicos e contraste alto.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Rótulos diretos e ícones além da cor.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Foco visível e ordem de leitura clara.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33161" y="3526631"/>
            <a:ext cx="3725273" cy="1860054"/>
          </a:xfrm>
          <a:prstGeom prst="roundRect">
            <a:avLst>
              <a:gd name="adj" fmla="val 3277"/>
            </a:avLst>
          </a:prstGeom>
          <a:solidFill>
            <a:srgbClr val="F4F3EC"/>
          </a:solidFill>
          <a:ln/>
        </p:spPr>
      </p:sp>
      <p:sp>
        <p:nvSpPr>
          <p:cNvPr id="26" name="Text 24"/>
          <p:cNvSpPr/>
          <p:nvPr/>
        </p:nvSpPr>
        <p:spPr>
          <a:xfrm>
            <a:off x="4410957" y="3682206"/>
            <a:ext cx="354747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 / DATA-INK RATIO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10957" y="3953272"/>
            <a:ext cx="3369682" cy="707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Remover molduras e grades redundantes.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Manter apenas os eixos necessários.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Priorizar rótulos úteis e o dado selecionado.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10831" y="3526631"/>
            <a:ext cx="3725273" cy="1860054"/>
          </a:xfrm>
          <a:prstGeom prst="roundRect">
            <a:avLst>
              <a:gd name="adj" fmla="val 3277"/>
            </a:avLst>
          </a:prstGeom>
          <a:solidFill>
            <a:srgbClr val="F4F3EC"/>
          </a:solidFill>
          <a:ln w="25399">
            <a:solidFill>
              <a:srgbClr val="F2D1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14026" y="3707606"/>
            <a:ext cx="352207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 / LIMITE DA BASE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14026" y="3978672"/>
            <a:ext cx="2551346" cy="257473"/>
          </a:xfrm>
          <a:prstGeom prst="roundRect">
            <a:avLst>
              <a:gd name="adj" fmla="val 7695"/>
            </a:avLst>
          </a:prstGeom>
          <a:solidFill>
            <a:srgbClr val="113B28"/>
          </a:solidFill>
          <a:ln/>
        </p:spPr>
      </p:sp>
      <p:sp>
        <p:nvSpPr>
          <p:cNvPr id="31" name="Text 29"/>
          <p:cNvSpPr/>
          <p:nvPr/>
        </p:nvSpPr>
        <p:spPr>
          <a:xfrm>
            <a:off x="8413043" y="4031780"/>
            <a:ext cx="2962895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E3ECE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CONECTAR ANTES DE PREENCHER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14026" y="4350445"/>
            <a:ext cx="3318883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Valores sem fonte permanecem como estados de conexão. O protótipo sinaliza onde a base detalhada alimentará os 12 meses e todas as categorias.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55591" y="5500985"/>
            <a:ext cx="11480513" cy="468610"/>
          </a:xfrm>
          <a:prstGeom prst="roundRect">
            <a:avLst>
              <a:gd name="adj" fmla="val 13008"/>
            </a:avLst>
          </a:prstGeom>
          <a:solidFill>
            <a:srgbClr val="F2D13A"/>
          </a:solidFill>
          <a:ln/>
        </p:spPr>
      </p:sp>
      <p:sp>
        <p:nvSpPr>
          <p:cNvPr id="34" name="Text 32"/>
          <p:cNvSpPr/>
          <p:nvPr/>
        </p:nvSpPr>
        <p:spPr>
          <a:xfrm>
            <a:off x="533387" y="5627985"/>
            <a:ext cx="1130271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Regra de restauração: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toda seleção é reversível. Limpar o mês ou a categoria retorna aos KPIs, à série e à tabela do overview, sem estado oculto.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2026-10-20T00:51:01Z</dcterms:created>
  <dcterms:modified xsi:type="dcterms:W3CDTF">2026-10-20T00:51:01Z</dcterms:modified>
</cp:coreProperties>
</file>